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756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3756"/>
                </a:solidFill>
                <a:latin typeface="Georgia"/>
              </a:rPr>
              <a:t>Paid budget arc — gated, patient capital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paid budget</c:v>
                </c:pt>
              </c:strCache>
            </c:strRef>
          </c:tx>
          <c:spPr>
            <a:solidFill>
              <a:srgbClr val="003756">
                <a:alpha val="100000"/>
              </a:srgbClr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60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 1–2</c:v>
                  </c:pt>
                  <c:pt idx="1">
                    <c:v>Mo 3–4</c:v>
                  </c:pt>
                  <c:pt idx="2">
                    <c:v>Mo 5–6</c:v>
                  </c:pt>
                  <c:pt idx="3">
                    <c:v>Mo 7+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5000</c:v>
                </c:pt>
                <c:pt idx="2">
                  <c:v>10000</c:v>
                </c:pt>
                <c:pt idx="3">
                  <c:v>16000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60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6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120640"/>
            <a:ext cx="3108960" cy="1234440"/>
          </a:xfrm>
          <a:prstGeom prst="triangle">
            <a:avLst/>
          </a:prstGeom>
          <a:solidFill>
            <a:srgbClr val="0B3C5C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394960"/>
            <a:ext cx="4023360" cy="960120"/>
          </a:xfrm>
          <a:prstGeom prst="triangle">
            <a:avLst/>
          </a:prstGeom>
          <a:solidFill>
            <a:srgbClr val="062E49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5230368"/>
            <a:ext cx="3383280" cy="1124712"/>
          </a:xfrm>
          <a:prstGeom prst="triangle">
            <a:avLst/>
          </a:prstGeom>
          <a:solidFill>
            <a:srgbClr val="0B3C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5449824"/>
            <a:ext cx="3840480" cy="905256"/>
          </a:xfrm>
          <a:prstGeom prst="triangle">
            <a:avLst/>
          </a:prstGeom>
          <a:solidFill>
            <a:srgbClr val="062E49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5257800"/>
            <a:ext cx="3108960" cy="1097280"/>
          </a:xfrm>
          <a:prstGeom prst="triangle">
            <a:avLst/>
          </a:prstGeom>
          <a:solidFill>
            <a:srgbClr val="0B3C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021B2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2834640" cy="6408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40897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 West · Personal Injury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3774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Colorado PI Acquisition: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58368" y="3127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&amp; Lead Strategy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85800" y="4069080"/>
            <a:ext cx="128016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224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Owned-asset growth engineered around Colorado's 2025–26 legal shifts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" y="62910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Brian Thackston · Digital Marketing Strategy   |   </a:t>
            </a:r>
            <a:pPr indent="0" marL="0">
              <a:buNone/>
            </a:pPr>
            <a:r>
              <a:rPr lang="en-US" sz="11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draft, pending attorney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Colorado laws just redrew the market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1E4C6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6596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1122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Damage caps raised — HB24-1472 (2025)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2587752"/>
            <a:ext cx="5074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Non-economic damages cap rose to $1.5M for most tort actions filed on/after Jan 1, 2025 ($2.125M wrongful death; biennial inflation adjustments from 2028).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cases are being valued under new math — education converts.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5257800" cy="2286000"/>
          </a:xfrm>
          <a:prstGeom prst="roundRect">
            <a:avLst>
              <a:gd name="adj" fmla="val 2000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96596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211226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Lead-buying banned — SB26-174 (Aug 2026)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6520" y="2587752"/>
            <a:ext cx="4892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legal lead generation becomes a deceptive trade practice in Colorado. Competitors renting pipeline from lead brokers lose their supply.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organic + first-party capture is the compliant moat.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0A3350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572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conclusion:  every dollar goes into assets we own — rankings, list, brand — not rented leads.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leg.colorado.gov/bills/hb24-1472 · leg.colorado.gov/bills/SB26-174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asset stack is already built — live in staging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landing pages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intent clusters, QA-passed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8328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8328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 intake ('Sky')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consults live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12648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case-value estimator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tagged GHL lead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86968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86968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→ GHL on every lead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310128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356616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566160"/>
            <a:ext cx="36118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3712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Capture, wired end-to-end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22960" y="4187952"/>
            <a:ext cx="32461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+ Sky both create GHL contacts tagged "Colorado Personal Injury Lead" with intake summaries, recordings, and source fields. Failed pushes dead-letter to logs — no lead silently lost.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9120" y="356616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566160"/>
            <a:ext cx="36118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3712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Speed-to-lead, automated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572000" y="4187952"/>
            <a:ext cx="32461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estimator leads with a phone number get an outbound follow-up call from Sky within minutes (business hours MT), offering to book the consultation while interest is hot.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38160" y="356616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138160" y="3566160"/>
            <a:ext cx="33832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8" name="Text 25"/>
          <p:cNvSpPr/>
          <p:nvPr/>
        </p:nvSpPr>
        <p:spPr>
          <a:xfrm>
            <a:off x="8321040" y="37124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 link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8321040" y="4187952"/>
            <a:ext cx="30175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whiteford-mountain-west-injury.vercel.app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GSC submission, brand-domain decision, GHL email sequences (this deck's ask).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funnel, two front doors, everything owned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1E4C6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2368296" cy="1828800"/>
          </a:xfrm>
          <a:prstGeom prst="chevron">
            <a:avLst/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9808" y="274320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content · earned media · paid (gated)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34640" y="2103120"/>
            <a:ext cx="2368296" cy="1828800"/>
          </a:xfrm>
          <a:prstGeom prst="chevron">
            <a:avLst/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0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108960" y="274320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intent-matched pages · story pages for cold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0" y="2103120"/>
            <a:ext cx="2368296" cy="1828800"/>
          </a:xfrm>
          <a:prstGeom prst="chevron">
            <a:avLst/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303520" y="274320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estimator · Sky phone intake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23760" y="2103120"/>
            <a:ext cx="2368296" cy="1828800"/>
          </a:xfrm>
          <a:prstGeom prst="chevron">
            <a:avLst/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498080" y="274320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5-email sequence · AI callback · retargeting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418320" y="2103120"/>
            <a:ext cx="2368296" cy="1828800"/>
          </a:xfrm>
          <a:prstGeom prst="chevron">
            <a:avLst/>
          </a:prstGeom>
          <a:solidFill>
            <a:srgbClr val="C6A15B"/>
          </a:solidFill>
          <a:ln w="9525">
            <a:solidFill>
              <a:srgbClr val="C6A1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0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692640" y="274320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Plan Session → engagement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" y="4343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list is the asset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63040" y="480060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searchers land on the page that matches their exact intent — never a generic homepage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conversions happen at contact five-plus — the follow-up layer does the compounding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converts toward traffic we OWN: the tagged, attributed GHL list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that governs every channel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$12k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" y="25877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fee per signed case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 blend)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8328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: 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83280" y="25877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return 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(Hormozi)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$4,000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126480" y="25877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per signed case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86968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$500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869680" y="25877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cost per qualified lead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(6–8 leads per signed case)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36499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graphicFrame>
        <p:nvGraphicFramePr>
          <p:cNvPr id="18" name="Chart 0" descr=""/>
          <p:cNvGraphicFramePr/>
          <p:nvPr/>
        </p:nvGraphicFramePr>
        <p:xfrm>
          <a:off x="640080" y="3611880"/>
          <a:ext cx="6035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6949440" y="3611880"/>
            <a:ext cx="457200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49440" y="3611880"/>
            <a:ext cx="45720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1" name="Text 17"/>
          <p:cNvSpPr/>
          <p:nvPr/>
        </p:nvSpPr>
        <p:spPr>
          <a:xfrm>
            <a:off x="7132320" y="37581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gate matters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132320" y="4233672"/>
            <a:ext cx="420624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fees lag spend by 12–18 months — paid budget is patient capital, not cash-recycling.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gates: blended paid CPL ≤ $500 and ≥1 attributed signed case in 90 days. Kill any ad at 2× target CPL with zero qualified leads; multiply winners.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judged on cost per signed case — attribution is already live.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Sharpen the offer before buying traffic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4406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87452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0208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magnet — "Colorado Case Value Snapshot"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2496312"/>
            <a:ext cx="5074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2-minute educational read on what drives cases like yours under the 2025 damages law. Reason-why naming, zero friction. Already built — this is the sharper wrapper.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52578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87452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20208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Consultation — "Claim Game Plan Session"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6520" y="2496312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and concrete, not another "free consultation": deadline check · evidence-preservation checklist · straight answer on whether counsel is warranted · insurer-conversation briefing.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54406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406908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2153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guarantee (law-native)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" y="4690872"/>
            <a:ext cx="5074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pay no fee unless we recover for you." The contingency structure is the strongest trust lever in legal marketing — lead with it everywhere. (Attorney review: costs-vs-fees disclosure.)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4069080"/>
            <a:ext cx="52578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06908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42153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core belief, repeated everywhere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446520" y="4690872"/>
            <a:ext cx="4892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"Insurers pay full value only to claimants prepared to go to trial — and that preparation is what a national trial platform provides from day one." Masten's insurer-defense past is the proof story.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· EARNED &amp; OWNED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engines — months 1–2, $0 media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1E4C6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3611880" cy="3657600"/>
          </a:xfrm>
          <a:prstGeom prst="roundRect">
            <a:avLst>
              <a:gd name="adj" fmla="val 1266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20240"/>
            <a:ext cx="36118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0665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search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2542032"/>
            <a:ext cx="324612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last mile: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GSC submission + sitemap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domain + GBP + review engine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Legal/local directory profiles (profiles only — no lead-gen products)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content additions where rankings emerge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1920240"/>
            <a:ext cx="3611880" cy="3657600"/>
          </a:xfrm>
          <a:prstGeom prst="roundRect">
            <a:avLst>
              <a:gd name="adj" fmla="val 1266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920240"/>
            <a:ext cx="36118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20665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 weekly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72000" y="2542032"/>
            <a:ext cx="324612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10–15 min "master show" video weekly — myth-busting Colorado injury topics, hook → story → offer.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becomes: Shorts, landing-page embeds, the weekly email, GBP posts.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Over-give, ask rarely (≥3.5:1).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38160" y="1920240"/>
            <a:ext cx="3383280" cy="3657600"/>
          </a:xfrm>
          <a:prstGeom prst="roundRect">
            <a:avLst>
              <a:gd name="adj" fmla="val 1351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38160" y="1920240"/>
            <a:ext cx="33832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066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the audience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321040" y="2542032"/>
            <a:ext cx="301752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Target-100: safety-beat reporters, podcasts, ski/cycling communities, adjacent professionals.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+ education only — never paid referrals (RPC 7.2).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Newsjack asset: the 2025 caps change is genuinely newsworthy.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·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engines — gated, profitable, compliant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577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Channel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Gate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PPC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paid dollar. Long-tail "case worth" terms → Snapshot (cheap) · high-intent lawyer terms → call (Sky answers 24/7) · branded defense.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≤ $500 · signed case in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retargeting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visitors, estimator abandoners, video viewers — educational tone, film creative (dramatization labeled).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with PPC · $0.5–1k/mo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cold · YouTube pre-roll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after organic proves the hooks. CO-geo, Snapshot goal, feeds retargeting pools.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≤ 2× Google's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LSA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Economically excellent — but pay-per-lead format needs an SB26-174 legal read first.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pending attorney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permanently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marketplaces · per-lead brokers · paid referrals · review buying.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SB26-174 / RPC 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at 2× target CPL with zero qualified leads. Multiply winners. Fix the worst funnel step before adding any new channel.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rollout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1E4C6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" y="2212848"/>
            <a:ext cx="10515600" cy="1828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0" name="Shape 7"/>
          <p:cNvSpPr/>
          <p:nvPr/>
        </p:nvSpPr>
        <p:spPr>
          <a:xfrm>
            <a:off x="1874520" y="2103120"/>
            <a:ext cx="237744" cy="237744"/>
          </a:xfrm>
          <a:prstGeom prst="ellipse">
            <a:avLst/>
          </a:prstGeom>
          <a:solidFill>
            <a:srgbClr val="C6A15B"/>
          </a:solidFill>
          <a:ln w="25400">
            <a:solidFill>
              <a:srgbClr val="0224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606040"/>
            <a:ext cx="2651760" cy="3108960"/>
          </a:xfrm>
          <a:prstGeom prst="roundRect">
            <a:avLst>
              <a:gd name="adj" fmla="val 172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606040"/>
            <a:ext cx="265176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3227832"/>
            <a:ext cx="22860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submission · GBP + reviews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Warm-outreach announcement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GHL sequences live (your build)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outbound: LIVE ✓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Brand-domain decision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103120"/>
            <a:ext cx="237744" cy="237744"/>
          </a:xfrm>
          <a:prstGeom prst="ellipse">
            <a:avLst/>
          </a:prstGeom>
          <a:solidFill>
            <a:srgbClr val="C6A15B"/>
          </a:solidFill>
          <a:ln w="25400">
            <a:solidFill>
              <a:srgbClr val="0224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29000" y="2606040"/>
            <a:ext cx="2651760" cy="3108960"/>
          </a:xfrm>
          <a:prstGeom prst="roundRect">
            <a:avLst>
              <a:gd name="adj" fmla="val 172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29000" y="2606040"/>
            <a:ext cx="265176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8" name="Text 15"/>
          <p:cNvSpPr/>
          <p:nvPr/>
        </p:nvSpPr>
        <p:spPr>
          <a:xfrm>
            <a:off x="3611880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3–6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11880" y="3227832"/>
            <a:ext cx="22860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master show launches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/ profile layer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Target-100 engagement begins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cold bridge pages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email cadence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52360" y="2103120"/>
            <a:ext cx="237744" cy="237744"/>
          </a:xfrm>
          <a:prstGeom prst="ellipse">
            <a:avLst/>
          </a:prstGeom>
          <a:solidFill>
            <a:srgbClr val="C6A15B"/>
          </a:solidFill>
          <a:ln w="25400">
            <a:solidFill>
              <a:srgbClr val="0224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606040"/>
            <a:ext cx="2651760" cy="3108960"/>
          </a:xfrm>
          <a:prstGeom prst="roundRect">
            <a:avLst>
              <a:gd name="adj" fmla="val 172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0" y="2606040"/>
            <a:ext cx="265176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7–10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0800" y="3227832"/>
            <a:ext cx="22860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value terms + branded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live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earned-media pitches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legal decision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241280" y="2103120"/>
            <a:ext cx="237744" cy="237744"/>
          </a:xfrm>
          <a:prstGeom prst="ellipse">
            <a:avLst/>
          </a:prstGeom>
          <a:solidFill>
            <a:srgbClr val="C6A15B"/>
          </a:solidFill>
          <a:ln w="25400">
            <a:solidFill>
              <a:srgbClr val="02243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06840" y="2606040"/>
            <a:ext cx="2651760" cy="3108960"/>
          </a:xfrm>
          <a:prstGeom prst="roundRect">
            <a:avLst>
              <a:gd name="adj" fmla="val 172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06840" y="2606040"/>
            <a:ext cx="265176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8" name="Text 25"/>
          <p:cNvSpPr/>
          <p:nvPr/>
        </p:nvSpPr>
        <p:spPr>
          <a:xfrm>
            <a:off x="9189720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11–13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89720" y="3227832"/>
            <a:ext cx="22860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high-intent terms (if gate passed)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kill/scale review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report vs. unit economics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· HIGHLEVEL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GHL build — what we need from you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D9D4C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87452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0208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Intake nurture workflow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2496312"/>
            <a:ext cx="5074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Contact Tag Added = "Colorado Personal Injury Lead" → 5-email sequence (copy supplied, paste-ready) with waits 15 min / 1d / 1d / 1d / 2d.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on reply, booking, or "do-not-sequence." Skip anyone tagged "client."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52578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87452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20208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Weekly cadence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6520" y="2496312"/>
            <a:ext cx="4892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Story-first weekly broadcast to the same tag (starter topics supplied), suppressing anyone still inside the intro sequence.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5440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416052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3068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Hygiene + alerts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" y="4782312"/>
            <a:ext cx="5074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sending domain, monitored reply-to, tracking on. Advertising footer + unsubscribe stay exactly as written (compliance). "Urgent Review" tag → instant SMS/email to intake.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416052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16052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43068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Weekly dashboard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446520" y="4782312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Source/UTM fields already populate on every contact. Build: leads by source · sequence engagement · booked sessions · signed cases by source.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SPEND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Guardrails, open items &amp; timing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84048"/>
            <a:ext cx="1371600" cy="310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382512"/>
            <a:ext cx="10881360" cy="10973"/>
          </a:xfrm>
          <a:prstGeom prst="rect">
            <a:avLst/>
          </a:prstGeom>
          <a:solidFill>
            <a:srgbClr val="1E4C6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 Mountain West · Colorado PI Acquisition Strategy — Confidential Draft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20240"/>
            <a:ext cx="544068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0665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Attorney-review gate (before first paid dollar)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2542032"/>
            <a:ext cx="5074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phrasing + costs disclosure · LSA vs. SB26-174 · dramatization labels in ads · email/SMS footers + consent · AI outbound script · review-request flow · offer names.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257800" cy="2103120"/>
          </a:xfrm>
          <a:prstGeom prst="roundRect">
            <a:avLst>
              <a:gd name="adj" fmla="val 2174"/>
            </a:avLst>
          </a:prstGeom>
          <a:solidFill>
            <a:srgbClr val="003756"/>
          </a:solidFill>
          <a:ln w="9525">
            <a:solidFill>
              <a:srgbClr val="174662"/>
            </a:solidFill>
            <a:prstDash val="solid"/>
          </a:ln>
          <a:effectLst>
            <a:outerShdw sx="100000" sy="100000" kx="0" ky="0" algn="bl" rotWithShape="0" blurRad="101600" dist="38100" dir="5400000">
              <a:srgbClr val="021B2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920240"/>
            <a:ext cx="5257800" cy="5029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206654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Permanent exclusions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6520" y="2542032"/>
            <a:ext cx="4892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promises · no manufactured scarcity · no purchased leads · no paid referrals · no "best lawyer" claims.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needed: brand domain · LSA position · call-tracking vendor.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34340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0A3350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3434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Masten Childers and Paul Nussbaum are in Colorado in a few weeks for a practice implementation session — target: email sequences live and first dashboard numbers in hand before they arrive.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2026-07-18T05:01:23Z</dcterms:created>
  <dcterms:modified xsi:type="dcterms:W3CDTF">2026-07-18T05:01:23Z</dcterms:modified>
</cp:coreProperties>
</file>
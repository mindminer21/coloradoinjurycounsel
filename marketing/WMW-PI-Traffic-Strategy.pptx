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61520" cy="105156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WHITEFORD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2331720" cy="1828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338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Mountain West · Personal Injury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Colorado PI Acquisition: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&amp; Lead Strategy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Owned-asset growth engineered around Colorado's 2025–26 legal shifts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Brian Thackston · Digital Marketing Strategy · July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DRAFT · PENDING ATTORNEY REVIEW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Colorado laws just redrew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5440680" cy="2103120"/>
          </a:xfrm>
          <a:prstGeom prst="roundRect">
            <a:avLst>
              <a:gd name="adj" fmla="val 1739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54406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HB24-1472 — caps raised (2025)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5111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Non-economic damages cap rose to $1.5M for most tort actions filed on/after Jan 1, 2025 ($2.125M wrongful death; biennial inflation adjustment from 2028).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cases are being valued under new math — education converts.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2103120"/>
          </a:xfrm>
          <a:prstGeom prst="roundRect">
            <a:avLst>
              <a:gd name="adj" fmla="val 1739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20240"/>
            <a:ext cx="525780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SB26-174 — lead-buying banned (Aug 2026)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2468880"/>
            <a:ext cx="4928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legal lead generation becomes a deceptive trade practice. Competitors renting pipeline from lead brokers lose supply.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organic + first-party lead capture is the compliant moat.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conclusion: every dollar goes into assets we own — rankings, list, brand — not rented leads.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leg.colorado.gov/bills/hb24-1472 · leg.colorado.gov/bills/SB26-174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asset stack is already built and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36118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6118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0253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SEO landing pages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3282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Opportunity-ranked Colorado PI keywords across 6 intent clusters. Unique content, FAQ + LegalService schema, 11-point QA passed, CWV-friendly static build.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6118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74520"/>
            <a:ext cx="36118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00253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Case-value estimator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423160"/>
            <a:ext cx="3282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8-question educational tool → name/email gate → range with disclaimers. Every submission lands in GHL tagged + source-attributed (UTMs, page, keyword).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3832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74520"/>
            <a:ext cx="33832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00253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“Sky” AI phone intake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242316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voice agent on (720) 821-3784: compliant intake, live Cal.com booking, recording + structured summary to GHL. Outbound speed-to-lead calls new estimator leads in minutes.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6118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23360"/>
            <a:ext cx="36118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15137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rails (GHL)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" y="4572000"/>
            <a:ext cx="3282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“Colorado Personal Injury Lead” + “AI Phone Intake” / “Urgent Review.” Full intake note, recording link, source fields on every contact. Dead-letter logging — no lead silently lost.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4023360"/>
            <a:ext cx="36118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4023360"/>
            <a:ext cx="36118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4151376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+ creative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53712" y="4572000"/>
            <a:ext cx="3282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mountain-west design system, real attorney bios linked to whitefordlaw.com, scroll-driven courtroom film (labeled dramatization) for site + future ads.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4023360"/>
            <a:ext cx="33832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023360"/>
            <a:ext cx="33832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7" name="Text 25"/>
          <p:cNvSpPr/>
          <p:nvPr/>
        </p:nvSpPr>
        <p:spPr>
          <a:xfrm>
            <a:off x="8302752" y="415137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02752" y="457200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whiteford-mountain-west-injury.vercel.app · sitemap (106 URLs) · needs: GSC submission, brand domain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funnel, two front doors, everything owned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2084832" cy="2286000"/>
          </a:xfrm>
          <a:prstGeom prst="roundRect">
            <a:avLst>
              <a:gd name="adj" fmla="val 1754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2084832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311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1755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content · earned media · paid (gated)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06624" y="2971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A15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52928" y="2103120"/>
            <a:ext cx="2084832" cy="2286000"/>
          </a:xfrm>
          <a:prstGeom prst="roundRect">
            <a:avLst>
              <a:gd name="adj" fmla="val 1754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2103120"/>
            <a:ext cx="2084832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2311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2651760"/>
            <a:ext cx="1755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intent-matched landing pages (warm) · story pages (cold)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19472" y="2971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A15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65776" y="2103120"/>
            <a:ext cx="2084832" cy="2286000"/>
          </a:xfrm>
          <a:prstGeom prst="roundRect">
            <a:avLst>
              <a:gd name="adj" fmla="val 1754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5776" y="2103120"/>
            <a:ext cx="2084832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22311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0368" y="2651760"/>
            <a:ext cx="1755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“Snapshot”  ·  Sky phone intake 24/7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0" y="2971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A15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78624" y="2103120"/>
            <a:ext cx="2084832" cy="2286000"/>
          </a:xfrm>
          <a:prstGeom prst="roundRect">
            <a:avLst>
              <a:gd name="adj" fmla="val 1754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78624" y="2103120"/>
            <a:ext cx="2084832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2" name="Text 20"/>
          <p:cNvSpPr/>
          <p:nvPr/>
        </p:nvSpPr>
        <p:spPr>
          <a:xfrm>
            <a:off x="7443216" y="22311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43216" y="2651760"/>
            <a:ext cx="1755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5-email sequence · Sky outbound call · retargeting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45168" y="2971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A15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91472" y="2103120"/>
            <a:ext cx="2084832" cy="2286000"/>
          </a:xfrm>
          <a:prstGeom prst="roundRect">
            <a:avLst>
              <a:gd name="adj" fmla="val 1754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1472" y="2103120"/>
            <a:ext cx="2084832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27" name="Text 25"/>
          <p:cNvSpPr/>
          <p:nvPr/>
        </p:nvSpPr>
        <p:spPr>
          <a:xfrm>
            <a:off x="9656064" y="22311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56064" y="2651760"/>
            <a:ext cx="17556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“Claim Game Plan Session” (Cal.com) → engagement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Traffic-temperature mapping (DotCom Secrets): hot → home/estimator · warm search → matching landing page · cold social → story-first bridge pages (to build)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conversions happen at contact 5+ — the follow-up layer is where the compounding happens (email + AI callback + retargeting)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converts toward traffic we OWN: the tagged, attributed GHL list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that governs every channel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297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figure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gross fee / signed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 (conservative)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of soft-tissue + serious; validate vs. firm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LTGP : CAC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Hormozi scale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cost per signed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÷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leads per signed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50–60% lead→consult × 25–40% consult→sign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blended cost / qualified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$500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÷ leads-per-case; organic pulls blend far 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fees lag spend 12–18 mo — organic first, paid gated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measured on cost per signed case — attribution rails (UTM → GHL) are already live.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offer before buying traffic ($100M Offers)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4406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54406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02536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magnet — “Colorado Case Value Snapshot”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5111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2-minute educational read on what drives cases like yours under the 2025 damages law. Reason-why + avatar + interval + container naming. Already built — this is the wrapper.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525780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02536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Consultation — “Claim Game Plan Session”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2423160"/>
            <a:ext cx="4928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stacked, concrete: deadline check · evidence-preservation checklist · straight answer on whether counsel is warranted · insurer-conversation briefing. Not another “free consultation.”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44068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69080"/>
            <a:ext cx="544068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97096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guarantee (law-native)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617720"/>
            <a:ext cx="5111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pay no fee unless we recover for you.” The contingency structure IS the strongest trust lever — lead with it everywhere. (Attorney review: costs-vs-fees disclosure.)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069080"/>
            <a:ext cx="52578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069080"/>
            <a:ext cx="525780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197096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Domino (one belief, everywhere)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8232" y="4617720"/>
            <a:ext cx="4928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“Insurers pay full value only to claimants prepared to go to trial — and trial preparation is what a national platform provides from day one.” Masten's insurer-defense past is the proof story.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— EARNED &amp; OWNED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engines (months 1–2, $0 media)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owned search: GSC submission · brand domain · GBP + review engine · legal/local directory profile layer (profiles only — no lead-gen products)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engine: one weekly “master show” video (false-belief topics, hook-story-offer) → Shorts, landing-page embeds, weekly email, GBP posts · give:ask ≥ 3.5:1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100 — Colorado edition (earned only): safety-beat reporters, CO podcasts, ski/cycling communities, adjacent professionals — relationship + education, never paid referrals (RPC 7.2)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outreach: Jeff's one-time network announcement + quarterly story · costs nothing, converts highest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Newsjack asset: the 2025 damages-cap change is genuinely newsworthy — pitch as education, not promotion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—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engines — gated, profitable, compliant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to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PPC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paid dollar. Layer 1: long-tail “case worth” terms → Snapshot (cheap). Layer 2: high-intent lawyer terms → call (Sky answers 24/7). Branded defense from day 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 ≤ $500 · ≥1 attributed signed case in 90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retargeting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visitors, estimator abandoners, video viewers. Educational tone, film creative (dramatization labeled).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with PPC; $500–1k/mo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cold + YouTube pre-roll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after organic proves hooks. CO-geo, Snapshot goal, feeds retargeting.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 ≤ 2× 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LSA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Economically excellent — but pay-per-lead format needs SB26-174 legal read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pending attorney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marketplaces · per-lead brokers · paid referrals · review buying.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(SB26-174 / RPC 7.2)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arc: $0 (mo 1–2) → $4–6k (mo 3–4) → $8–12k if gates pass → scale toward $4k/signed-case ceiling. Kill at 2× target CPL with zero qualified leads; 10× winners.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rollout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2651760" cy="3931920"/>
          </a:xfrm>
          <a:prstGeom prst="roundRect">
            <a:avLst>
              <a:gd name="adj" fmla="val 1379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265176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232257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submission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+ review engine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Warm-outreach announcement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GHL sequences live (your build — next slide)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outbound: LIVE ✓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Brand-domain decision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51760" cy="3931920"/>
          </a:xfrm>
          <a:prstGeom prst="roundRect">
            <a:avLst>
              <a:gd name="adj" fmla="val 1379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920240"/>
            <a:ext cx="265176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20482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3–6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93592" y="2468880"/>
            <a:ext cx="232257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master show launches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/ profile layer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100 built + engagement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cold bridge pages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email cadence begins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651760" cy="3931920"/>
          </a:xfrm>
          <a:prstGeom prst="roundRect">
            <a:avLst>
              <a:gd name="adj" fmla="val 1379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20240"/>
            <a:ext cx="265176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0482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7–10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2468880"/>
            <a:ext cx="232257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layer-2 (value terms) + branded + retargeting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earned-media pitches (caps-change angle)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legal decision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06840" y="1920240"/>
            <a:ext cx="2514600" cy="3931920"/>
          </a:xfrm>
          <a:prstGeom prst="roundRect">
            <a:avLst>
              <a:gd name="adj" fmla="val 1455"/>
            </a:avLst>
          </a:prstGeom>
          <a:solidFill>
            <a:srgbClr val="003756"/>
          </a:solidFill>
          <a:ln w="9525">
            <a:solidFill>
              <a:srgbClr val="1A4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920240"/>
            <a:ext cx="2514600" cy="45720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9171432" y="20482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11–13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71432" y="2468880"/>
            <a:ext cx="218541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layer-1 (high-intent) if CPL gate passed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kill/scale review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report vs. unit economics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0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· HIGHLEVEL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37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GHL build — what we need from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intake nurture: trigger on tag “Colorado Personal Injury Lead” → 5-email Soap-Opera sequence (copy supplied, ready to paste) with waits 15min / 1d / 1d / 1d / 2d · exit on reply, booking, or tag “do-not-sequence” · skip if tagged “client”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— weekly cadence: story-first broadcast to the tag (starters supplied), suppressing anyone inside Workflow 1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hygiene: verified sending domain, monitored reply-to, open/click tracking on, advertising footer + unsubscribe on every send (copy includes it)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 “Urgent Review” tag → instant SMS/email to intake team · all bookings → case-worker calendar visibility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source/UTM fields already populate on every contact — build the weekly dashboard: leads by source · sequence engagement · booked sessions · signed cases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engine (phase 2): post-matter review request flow (no incentives) → GBP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referenced ships with this deck: email copy file + landing-page URL map + full strategy doc.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SPEND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guardrails &amp; open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05840" cy="4114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Attorney-review gate before first paid dollar: contingency phrasing + costs disclosure · LSA vs. SB26-174 · dramatization labeling in ads · email/SMS footers + consent · Sky outbound script · review-request flow · offer names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exclusions: no outcome promises, no manufactured scarcity, no purchased leads, no paid referrals, no “best lawyer” claims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data refresh pending API units — keyword metrics currently methodology-based estimates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needed: brand domain purchase · LSA position · call-tracking vendor (NAP-safe implementation specified)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docs/10-traffic-strategy.md (attached as PDF companion)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2026-07-18T04:41:38Z</dcterms:created>
  <dcterms:modified xsi:type="dcterms:W3CDTF">2026-07-18T04:41:38Z</dcterms:modified>
</cp:coreProperties>
</file>